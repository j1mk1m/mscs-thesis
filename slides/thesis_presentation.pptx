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C41230">
              <a:alpha val="40000"/>
            </a:srgbClr>
          </a:solidFill>
          <a:ln w="12700">
            <a:solidFill>
              <a:srgbClr val="C4123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C41230">
              <a:alpha val="30000"/>
            </a:srgbClr>
          </a:solidFill>
          <a:ln w="12700">
            <a:solidFill>
              <a:srgbClr val="C41230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Dissecting Reinforcement Learning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Mechanisms Behind Compositional Reasoning in LLMs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02920" y="2578608"/>
            <a:ext cx="2743200" cy="41148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69748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Gyeongwon James Kim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Chenyan Xiong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Carnegie Mellon University  ·  May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Rise of Large Reasoning Models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Gyeongwon James Kim  ·  CMU  ·  May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4937760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 now solve problems once considered far beyond reach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mathematics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Graduate-level science questions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multi-step code generation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ingredient: Reinforcement Learning with Verifiable Rewards (RLVR)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77840" y="777240"/>
            <a:ext cx="3200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77840" y="8046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RLVR Training Loop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15000" y="1261872"/>
            <a:ext cx="384048" cy="384048"/>
          </a:xfrm>
          <a:prstGeom prst="ellipse">
            <a:avLst/>
          </a:prstGeom>
          <a:solidFill>
            <a:srgbClr val="6D6E71"/>
          </a:solidFill>
          <a:ln w="12700">
            <a:solidFill>
              <a:srgbClr val="6D6E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99632" y="12618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generates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99632" y="14721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solutions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79592" y="1664208"/>
            <a:ext cx="0" cy="448056"/>
          </a:xfrm>
          <a:prstGeom prst="line">
            <a:avLst/>
          </a:prstGeom>
          <a:noFill/>
          <a:ln w="19050">
            <a:solidFill>
              <a:srgbClr val="6D6E71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715000" y="2130552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99632" y="21305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checks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99632" y="23408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(no human labels)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79592" y="2532888"/>
            <a:ext cx="0" cy="448056"/>
          </a:xfrm>
          <a:prstGeom prst="line">
            <a:avLst/>
          </a:prstGeom>
          <a:noFill/>
          <a:ln w="19050">
            <a:solidFill>
              <a:srgbClr val="6D6E71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715000" y="2999232"/>
            <a:ext cx="384048" cy="384048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99632" y="29992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updates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99632" y="320954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produce better solutions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035808"/>
            <a:ext cx="4892040" cy="868680"/>
          </a:xfrm>
          <a:prstGeom prst="rect">
            <a:avLst/>
          </a:prstGeom>
          <a:solidFill>
            <a:srgbClr val="F5F5F5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08152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Models produce extended chains of reasoning that scale inference-time compute and tackle increasingly complex problems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Question: Why Does RL Work?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Gyeongwon James Kim  ·  CMU  ·  May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4937760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training is bundled with many ingredients — which one actually drives reasoning?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7472" y="1353312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353312"/>
            <a:ext cx="2697480" cy="228600"/>
          </a:xfrm>
          <a:prstGeom prst="rect">
            <a:avLst/>
          </a:prstGeom>
          <a:solidFill>
            <a:srgbClr val="6D6E71"/>
          </a:solidFill>
          <a:ln w="12700">
            <a:solidFill>
              <a:srgbClr val="6D6E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6276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" y="1993392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concentrates probability mass on outputs already latent in the base model — improving pass@1 without fundamentally expanding capabilities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" y="3566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Yue et al., 2025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353312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353312"/>
            <a:ext cx="2697480" cy="228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6276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On-Policy Data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1993392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is alignment between training data and the model's current distribution — RL avoids off-policy bias of static supervised datasets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3566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et al., 2025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53328" y="1353312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53328" y="1353312"/>
            <a:ext cx="2697480" cy="228600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0488" y="16276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Feedback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90488" y="1993392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SFT, RL explicitly penalizes incorrect outputs — this negative signal drives the model to avoid failure modes and explore new solutions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0488" y="3566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Tian et al., 2026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4187952"/>
            <a:ext cx="8449056" cy="6217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187952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RL pipelines bundle all three effects — making it impossible to attribute gains to any single cause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Controlled Decomposition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Gyeongwon James Kim  ·  CMU  ·  May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4937760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isolate the contributions of individual RL components under a single controlled task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298448"/>
            <a:ext cx="40233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298448"/>
            <a:ext cx="201168" cy="2377440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371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1: Data Source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1755648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Off-policy  →  On-policy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 →  Bootstrap  →  Iterative  →  On-policy rollouts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data source affect compositional performance?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36592" y="1298448"/>
            <a:ext cx="40233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36592" y="1298448"/>
            <a:ext cx="201168" cy="2377440"/>
          </a:xfrm>
          <a:prstGeom prst="rect">
            <a:avLst/>
          </a:prstGeom>
          <a:solidFill>
            <a:srgbClr val="6D6E71"/>
          </a:solidFill>
          <a:ln w="12700">
            <a:solidFill>
              <a:srgbClr val="6D6E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47488" y="1371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2: Loss Function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47488" y="1755648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 →  GRPO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 →  POS+NEG  →  REINFORCE+  →  GRPO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adding negative gradients and normalization buy us?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7472" y="3794760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2×2 Framework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4114800"/>
          <a:ext cx="8449056" cy="804672"/>
        </p:xfrm>
        <a:graphic>
          <a:graphicData uri="http://schemas.openxmlformats.org/drawingml/2006/table">
            <a:tbl>
              <a:tblPr/>
              <a:tblGrid>
                <a:gridCol w="1645920"/>
                <a:gridCol w="3401568"/>
                <a:gridCol w="3401568"/>
              </a:tblGrid>
              <a:tr h="268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Samples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+ Negative Samples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68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Off-policy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8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On-policy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D6E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On-policy SFT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GRPO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Lens: Compositional Generalization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Gyeongwon James Kim  ·  CMU  ·  May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4937760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046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compositional generalization?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207008"/>
            <a:ext cx="4709160" cy="1325880"/>
          </a:xfrm>
          <a:prstGeom prst="rect">
            <a:avLst/>
          </a:prstGeom>
          <a:solidFill>
            <a:srgbClr val="F5F5F5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61872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combine known atomic skills to solve harder problems — a key ingredient of general reasoning.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65176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it as our lens?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017520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SFT–RL gap is especially pronounced here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plateaus sharply as composition depth increases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continues to improve — creating a clean, measurable separation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is precisely controlled by composition depth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8046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depth controls difficulty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76672" y="1207008"/>
            <a:ext cx="341985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76672" y="1207008"/>
            <a:ext cx="164592" cy="713232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96128" y="12435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96128" y="15361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D6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f(x)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903720" y="1408176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atomic function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76672" y="2048256"/>
            <a:ext cx="341985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76672" y="2048256"/>
            <a:ext cx="164592" cy="713232"/>
          </a:xfrm>
          <a:prstGeom prst="rect">
            <a:avLst/>
          </a:prstGeom>
          <a:solidFill>
            <a:srgbClr val="6D6E71"/>
          </a:solidFill>
          <a:ln w="12700">
            <a:solidFill>
              <a:srgbClr val="6D6E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96128" y="20848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96128" y="23774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D6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f(g(x))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903720" y="2249424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2 functions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76672" y="2889504"/>
            <a:ext cx="341985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76672" y="2889504"/>
            <a:ext cx="164592" cy="7132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96128" y="29260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96128" y="32186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D6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f(g(h(i(x))))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03720" y="309067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4 functions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76672" y="3730752"/>
            <a:ext cx="341985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76672" y="3730752"/>
            <a:ext cx="164592" cy="713232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96128" y="37673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8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96128" y="40599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D6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f¹∘f²∘…∘f⁸(x)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03720" y="393192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8 functions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String-Function Composition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Gyeongwon James Kim  ·  CMU  ·  May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4937760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800" dirty="0"/>
          </a:p>
        </p:txBody>
      </p:sp>
      <p:pic>
        <p:nvPicPr>
          <p:cNvPr id="7" name="Image 0" descr="/Users/j1mk1m/Desktop/research/01-post-training/cmu-thesis/imgs/string-func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777240"/>
            <a:ext cx="4343400" cy="4023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80467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1170432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unique string functions (13 train / 12 eval)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receives function definitions + input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predict output of composed programs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217627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Protocol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5760" y="2670048"/>
            <a:ext cx="347472" cy="347472"/>
          </a:xfrm>
          <a:prstGeom prst="ellipse">
            <a:avLst/>
          </a:prstGeom>
          <a:solidFill>
            <a:srgbClr val="6D6E71"/>
          </a:solidFill>
          <a:ln w="12700">
            <a:solidFill>
              <a:srgbClr val="6D6E7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4672" y="26517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(Level-1)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04672" y="28712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all atomic functions → checkpoint 'Base'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65760" y="3383280"/>
            <a:ext cx="347472" cy="3474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04672" y="33649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(Level-2)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04672" y="35844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composed tasks with different methods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65760" y="4096512"/>
            <a:ext cx="347472" cy="347472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4096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04672" y="407822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04672" y="4297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accuracy on levels 1–8 (extrapolation)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SFT vs. GRPO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Gyeongwon James Kim  ·  CMU  ·  May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4937760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Baseline</a:t>
            </a:r>
            <a:endParaRPr lang="en-US" sz="800" dirty="0"/>
          </a:p>
        </p:txBody>
      </p:sp>
      <p:pic>
        <p:nvPicPr>
          <p:cNvPr id="7" name="Image 0" descr="/Users/j1mk1m/Desktop/research/01-post-training/cmu-thesis/imgs/bas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80560" y="777240"/>
            <a:ext cx="4434840" cy="4023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80467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1170432"/>
            <a:ext cx="388620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216152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 substantially outperforms SFT at higher composition levels (levels 3–8), creating a large and measurable gap.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65760" y="248716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tells us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283464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off-policy SFT (lower bound)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On-policy GRPO (upper bound)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trained on Level-2 tasks — difference is purely the training method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understand what inside GRPO drives this gap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 Decomposition: SFT → GRPO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Gyeongwon James Kim  ·  CMU  ·  May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4937760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Loss Axis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loss functions differ only in how they weight positive and negative samples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242316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1828800"/>
              </a:tblGrid>
              <a:tr h="4038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Weight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Weight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Samples?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D6E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D6E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GRPOMask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(1 − μ) / 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D6E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D6E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POS+NEG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4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4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REINFORCE+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1 − 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4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4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4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GRPO 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(1 − μ) / 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4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−μ / 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41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3767328"/>
            <a:ext cx="402336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6D6E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81304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Progression: add negative samples, then group baseline (μ), then variance normalization (σ)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3767328"/>
            <a:ext cx="4023360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2040" y="3813048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Is it the negative samples or the normalization that matters most for compositional generalization?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Role of Data Source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Gyeongwon James Kim  ·  CMU  ·  May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4937760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Data Axis</a:t>
            </a:r>
            <a:endParaRPr lang="en-US" sz="800" dirty="0"/>
          </a:p>
        </p:txBody>
      </p:sp>
      <p:pic>
        <p:nvPicPr>
          <p:cNvPr id="7" name="Image 0" descr="/Users/j1mk1m/Desktop/research/01-post-training/cmu-thesis/imgs/dat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80560" y="777240"/>
            <a:ext cx="4434840" cy="3749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8229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Surprising finding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1188720"/>
            <a:ext cx="388620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234440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On-policy SFT performs worse than off-policy teacher-generated SFT — data quality matters!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65760" y="257860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292608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model generates far more correct solutions than base model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On-policy data alone is not sufficient — need negative learning signal too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strategies tested: correctness ratio, trajectory length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Role of Negative Samples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3776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Gyeongwon James Kim  ·  CMU  ·  May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0" y="4937760"/>
            <a:ext cx="2468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Loss Axis</a:t>
            </a:r>
            <a:endParaRPr lang="en-US" sz="800" dirty="0"/>
          </a:p>
        </p:txBody>
      </p:sp>
      <p:pic>
        <p:nvPicPr>
          <p:cNvPr id="7" name="Image 0" descr="/Users/j1mk1m/Desktop/research/01-post-training/cmu-thesis/imgs/loss_f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80560" y="777240"/>
            <a:ext cx="4434840" cy="3749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8229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1188720"/>
            <a:ext cx="3886200" cy="1417320"/>
          </a:xfrm>
          <a:prstGeom prst="rect">
            <a:avLst/>
          </a:prstGeom>
          <a:solidFill>
            <a:srgbClr val="F5F5F5"/>
          </a:solidFill>
          <a:ln w="12700">
            <a:solidFill>
              <a:srgbClr val="6D6E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234440"/>
            <a:ext cx="3611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negative samples (POS+NEG) under on-policy training recovers the bulk of the gap between on-policy SFT and full GRPO.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65760" y="269748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3044952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gradients are a critical component of GRPO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normalization (σ, μ) has relatively smaller impact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on-policy data AND negative samples are essential for compositional generalization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Contributions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0" y="658368"/>
            <a:ext cx="1371600" cy="4279392"/>
          </a:xfrm>
          <a:prstGeom prst="rect">
            <a:avLst/>
          </a:prstGeom>
          <a:solidFill>
            <a:srgbClr val="C41230">
              <a:alpha val="20000"/>
            </a:srgbClr>
          </a:solidFill>
          <a:ln w="12700">
            <a:solidFill>
              <a:srgbClr val="C4123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78408"/>
            <a:ext cx="411480" cy="411480"/>
          </a:xfrm>
          <a:prstGeom prst="ellipse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78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9601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Decomposition Framework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23444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and RL variants organized under a 2-axis grid (data × loss). Enables controlled ablations.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965960"/>
            <a:ext cx="411480" cy="411480"/>
          </a:xfrm>
          <a:prstGeom prst="ellipse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19476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SFT–GRPO Gap Demonstrated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22199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substantially outperforms off-policy SFT on compositional generalization; filtering does not close the gap.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2953512"/>
            <a:ext cx="411480" cy="411480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953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293522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On-Policy Data is Critical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20954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and on-policy nature both matter; teacher-generated data outperforms base-model rollouts under SFT.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3941064"/>
            <a:ext cx="411480" cy="411480"/>
          </a:xfrm>
          <a:prstGeom prst="ellipse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9410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9227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Gradients are Critical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4197096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negative samples under on-policy training recovers the bulk of the GRPO gap. Normalization is secondary.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C41230"/>
          </a:solidFill>
          <a:ln w="12700">
            <a:solidFill>
              <a:srgbClr val="C412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Gyeongwon James Kim  ·  Carnegie Mellon University  · 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Dissecting Reinforcement Learning</dc:title>
  <dc:subject>PptxGenJS Presentation</dc:subject>
  <dc:creator>Gyeongwon James Kim</dc:creator>
  <cp:lastModifiedBy>Gyeongwon James Kim</cp:lastModifiedBy>
  <cp:revision>1</cp:revision>
  <dcterms:created xsi:type="dcterms:W3CDTF">2026-04-19T16:12:21Z</dcterms:created>
  <dcterms:modified xsi:type="dcterms:W3CDTF">2026-04-19T16:12:21Z</dcterms:modified>
</cp:coreProperties>
</file>